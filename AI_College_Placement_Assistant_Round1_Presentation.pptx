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14400" y="914400"/>
            <a:ext cx="10362895" cy="5029200"/>
          </a:xfrm>
          <a:prstGeom prst="roundRect">
            <a:avLst/>
          </a:prstGeom>
          <a:solidFill>
            <a:srgbClr val="0F1E3A"/>
          </a:solidFill>
          <a:ln>
            <a:solidFill>
              <a:srgbClr val="1E3A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234440"/>
            <a:ext cx="2560320" cy="4800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80160" y="1188720"/>
            <a:ext cx="6858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10B981"/>
                </a:solidFill>
              </a:defRPr>
            </a:pPr>
            <a:r>
              <a:t>ROUND-1 PRESENTATION</a:t>
            </a:r>
          </a:p>
          <a:p>
            <a:pPr>
              <a:spcBef>
                <a:spcPts val="800"/>
              </a:spcBef>
              <a:defRPr sz="3600" b="1">
                <a:solidFill>
                  <a:srgbClr val="FFFFFF"/>
                </a:solidFill>
              </a:defRPr>
            </a:pPr>
            <a:r>
              <a:t>AI College Placement Assistant</a:t>
            </a:r>
          </a:p>
          <a:p>
            <a:pPr>
              <a:spcBef>
                <a:spcPts val="800"/>
              </a:spcBef>
              <a:defRPr sz="1500">
                <a:solidFill>
                  <a:srgbClr val="C7D2FE"/>
                </a:solidFill>
              </a:defRPr>
            </a:pPr>
            <a:r>
              <a:t>Autonomous AI Agent for Student-Job Matching, Skill Gap Diagnosis, 7-Day Roadmaps &amp; LaTeX Resume Tailoring</a:t>
            </a:r>
          </a:p>
          <a:p>
            <a:pPr>
              <a:spcBef>
                <a:spcPts val="1200"/>
              </a:spcBef>
              <a:defRPr sz="1100">
                <a:solidFill>
                  <a:srgbClr val="475569"/>
                </a:solidFill>
              </a:defRPr>
            </a:pPr>
            <a:r>
              <a:t>───────────────────────────────────────────────────────────────────────────────────</a:t>
            </a:r>
          </a:p>
          <a:p>
            <a:pPr>
              <a:spcBef>
                <a:spcPts val="800"/>
              </a:spcBef>
              <a:defRPr sz="1300" b="1">
                <a:solidFill>
                  <a:srgbClr val="FFFFFF"/>
                </a:solidFill>
              </a:defRPr>
            </a:pPr>
            <a:r>
              <a:t>Domain: AI &amp; Campus Placement Automation   |   Cloud Database: Turso Cloud</a:t>
            </a:r>
          </a:p>
          <a:p>
            <a:pPr>
              <a:spcBef>
                <a:spcPts val="600"/>
              </a:spcBef>
              <a:defRPr sz="1200">
                <a:solidFill>
                  <a:srgbClr val="94A3B8"/>
                </a:solidFill>
              </a:defRPr>
            </a:pPr>
            <a:r>
              <a:t>Team Members: Full-Stack Lead • AI Agent Specialist • Frontend &amp; LaTeX Engineer • Cloud &amp; QA Lead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PROBLEM STATEMENT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The Broken Campus Placement Lifecycle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10728655" cy="822960"/>
          </a:xfrm>
          <a:prstGeom prst="roundRect">
            <a:avLst/>
          </a:prstGeom>
          <a:solidFill>
            <a:srgbClr val="FEF2F2"/>
          </a:solidFill>
          <a:ln>
            <a:solidFill>
              <a:srgbClr val="FECAC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300" b="1">
                <a:solidFill>
                  <a:srgbClr val="991B1B"/>
                </a:solidFill>
              </a:defRPr>
            </a:pPr>
            <a:r>
              <a:t>“Students miss top opportunities due to manual eligibility checks, unidentified skill gaps, and generic resumes, while placement cells struggle with fragmented data across 600+ candidates.”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3413455" cy="2926080"/>
          </a:xfrm>
          <a:prstGeom prst="roundRect">
            <a:avLst/>
          </a:prstGeom>
          <a:solidFill>
            <a:srgbClr val="FEF2F2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65176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EF4444"/>
                </a:solidFill>
              </a:defRPr>
            </a:pPr>
            <a:r>
              <a:t>📉 Blind Applications</a:t>
            </a:r>
          </a:p>
          <a:p>
            <a:pPr>
              <a:spcBef>
                <a:spcPts val="600"/>
              </a:spcBef>
              <a:defRPr sz="1300" b="1">
                <a:solidFill>
                  <a:srgbClr val="0A192F"/>
                </a:solidFill>
              </a:defRPr>
            </a:pPr>
            <a:r>
              <a:t>Missed Shortlists &amp; Cutoffs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Students apply without verifying multi-factor thresholds (CGPA, Branch, Year, Skills), causing high rejection rates.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468880"/>
            <a:ext cx="3413455" cy="2926080"/>
          </a:xfrm>
          <a:prstGeom prst="roundRect">
            <a:avLst/>
          </a:prstGeom>
          <a:solidFill>
            <a:srgbClr val="FFFBEB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265176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F59E0B"/>
                </a:solidFill>
              </a:defRPr>
            </a:pPr>
            <a:r>
              <a:t>⏳ Last-Minute Panic</a:t>
            </a:r>
          </a:p>
          <a:p>
            <a:pPr>
              <a:spcBef>
                <a:spcPts val="600"/>
              </a:spcBef>
              <a:defRPr sz="1300" b="1">
                <a:solidFill>
                  <a:srgbClr val="0A192F"/>
                </a:solidFill>
              </a:defRPr>
            </a:pPr>
            <a:r>
              <a:t>No Structured Prep Roadmaps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Lack of personalized day-by-day interview preparation schedules and company-specific mock technical questions.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468880"/>
            <a:ext cx="3413455" cy="2926080"/>
          </a:xfrm>
          <a:prstGeom prst="roundRect">
            <a:avLst/>
          </a:prstGeom>
          <a:solidFill>
            <a:srgbClr val="F0FDF4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2651760"/>
            <a:ext cx="3047695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10B981"/>
                </a:solidFill>
              </a:defRPr>
            </a:pPr>
            <a:r>
              <a:t>📄 Generic Resumes</a:t>
            </a:r>
          </a:p>
          <a:p>
            <a:pPr>
              <a:spcBef>
                <a:spcPts val="600"/>
              </a:spcBef>
              <a:defRPr sz="1300" b="1">
                <a:solidFill>
                  <a:srgbClr val="0A192F"/>
                </a:solidFill>
              </a:defRPr>
            </a:pPr>
            <a:r>
              <a:t>ATS Filtering &amp; Zero Tailoring</a:t>
            </a:r>
          </a:p>
          <a:p>
            <a:pPr>
              <a:spcBef>
                <a:spcPts val="1000"/>
              </a:spcBef>
              <a:defRPr sz="1200">
                <a:solidFill>
                  <a:srgbClr val="0F172A"/>
                </a:solidFill>
              </a:defRPr>
            </a:pPr>
            <a:r>
              <a:t>Submitting static, un-tailored resumes without STAR-method project blueprints matching job description keywords.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577840"/>
            <a:ext cx="10728655" cy="73152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🔒 The Off-Campus Blindspot: Campus portals hide live market drives — students remain unaware of active hiring at Uber, Google, Stripe, etc.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PROPOSED SOLUTION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AI College Placement Assistant Platform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2422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0020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🎯 Automated Matching &amp; Eligibility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Computes multi-factor fit scores (0-100%) against academic cutoffs and skill taxonomies for 600+ students.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0020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⚡ Autonomous Auto-Apply (LangGraph)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Multi-step StateGraph evaluates fit, tailors screening answers, and submits applications with verification receipts.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566160"/>
            <a:ext cx="52422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0332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🛠️ Zero-API-Key Skill Gap Planner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Deterministic expert knowledge base generating 7-day day-by-day schedules &amp; company mock questions 100% offline.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566160"/>
            <a:ext cx="5242255" cy="18288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3703320"/>
            <a:ext cx="4876495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0A192F"/>
                </a:solidFill>
              </a:defRPr>
            </a:pPr>
            <a:r>
              <a:t>📄 ATS-Optimized LaTeX Resumes (.tex)</a:t>
            </a:r>
          </a:p>
          <a:p>
            <a:pPr>
              <a:spcBef>
                <a:spcPts val="600"/>
              </a:spcBef>
              <a:defRPr sz="1200">
                <a:solidFill>
                  <a:srgbClr val="0F172A"/>
                </a:solidFill>
              </a:defRPr>
            </a:pPr>
            <a:r>
              <a:t>Dynamically injects student data and STAR-format project blueprints into compilation-ready LaTeX templates.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760720"/>
            <a:ext cx="10728655" cy="59436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Workflow: Student Profile  ──►  Eligibility Engine  ──►  LangGraph Auto-Apply  ──►  7-Day Prep Roadmap  ──►  LaTeX Resume (.tex)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SYSTEM ARCHITECTURE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End-to-End Architectural Data Flow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246888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463040"/>
            <a:ext cx="2468880" cy="411480"/>
          </a:xfrm>
          <a:prstGeom prst="rect">
            <a:avLst/>
          </a:prstGeom>
          <a:solidFill>
            <a:srgbClr val="0284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1: INPUT &amp;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📥 Raw Ingestion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600+ Student Profiles</a:t>
            </a:r>
            <a:br/>
            <a:r>
              <a:t>• Turso Cloud Database</a:t>
            </a:r>
            <a:br/>
            <a:r>
              <a:t>• Live Internet Market Feeds</a:t>
            </a:r>
            <a:br/>
            <a:r>
              <a:t>• Company Job Schemas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218688" y="329184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46888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E3A8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468880" cy="4114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2: ORCHESTRATION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⚙️ FastAPI Core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JWT Auth &amp; RBAC</a:t>
            </a:r>
            <a:br/>
            <a:r>
              <a:t>• Pydantic v2 Validation</a:t>
            </a:r>
            <a:br/>
            <a:r>
              <a:t>• Jaccard Skill Parser</a:t>
            </a:r>
            <a:br/>
            <a:r>
              <a:t>• Academic Cutoff Filter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916168" y="329184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26480" y="1463040"/>
            <a:ext cx="246888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9333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463040"/>
            <a:ext cx="2468880" cy="411480"/>
          </a:xfrm>
          <a:prstGeom prst="rect">
            <a:avLst/>
          </a:prstGeom>
          <a:solidFill>
            <a:srgbClr val="9333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3: AI AGENT CORE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364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🤖 LangGraph Engine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Multi-Node StateGraph</a:t>
            </a:r>
            <a:br/>
            <a:r>
              <a:t>• Conditional Fit Routing</a:t>
            </a:r>
            <a:br/>
            <a:r>
              <a:t>• Offline Knowledge Graph</a:t>
            </a:r>
            <a:br/>
            <a:r>
              <a:t>• STAR Project Synthesizer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613648" y="3291840"/>
            <a:ext cx="182880" cy="274320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823960" y="1463040"/>
            <a:ext cx="2468880" cy="4023360"/>
          </a:xfrm>
          <a:prstGeom prst="roundRect">
            <a:avLst/>
          </a:prstGeom>
          <a:solidFill>
            <a:srgbClr val="F8FAFC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823960" y="1463040"/>
            <a:ext cx="2468880" cy="41148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STAGE 4: OUTPUTS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61120" y="1965960"/>
            <a:ext cx="219456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0A192F"/>
                </a:solidFill>
              </a:defRPr>
            </a:pPr>
            <a:r>
              <a:t>🚀 Autonomous Action</a:t>
            </a:r>
          </a:p>
          <a:p>
            <a:pPr>
              <a:lnSpc>
                <a:spcPct val="130000"/>
              </a:lnSpc>
              <a:spcBef>
                <a:spcPts val="800"/>
              </a:spcBef>
              <a:defRPr sz="1100">
                <a:solidFill>
                  <a:srgbClr val="0F172A"/>
                </a:solidFill>
              </a:defRPr>
            </a:pPr>
            <a:r>
              <a:t>• Cryptographic Receipts</a:t>
            </a:r>
            <a:br/>
            <a:r>
              <a:t>• 7-Day Action Roadmaps</a:t>
            </a:r>
            <a:br/>
            <a:r>
              <a:t>• Company Mock Q&amp;A</a:t>
            </a:r>
            <a:br/>
            <a:r>
              <a:t>• Compilation .tex Resume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5669280"/>
            <a:ext cx="10728655" cy="685800"/>
          </a:xfrm>
          <a:prstGeom prst="roundRect">
            <a:avLst/>
          </a:prstGeom>
          <a:solidFill>
            <a:srgbClr val="F0FDF4"/>
          </a:solidFill>
          <a:ln>
            <a:solidFill>
              <a:srgbClr val="BBF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⚡ Architectural Flow: Data Ingestion ──► FastAPI RBAC Filtering ──► LangGraph State Machine ──► Auto-Apply &amp; LaTeX Output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IMPLEMENTATION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How We Built It — Technology Stack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731520" y="1463040"/>
            <a:ext cx="10728655" cy="5486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50876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Frontend Layer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50876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React 19.x, Vite 6, React Router DOM, Custom Glassmorphic CSS3 System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057400"/>
            <a:ext cx="1072865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1031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Backend API Server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1031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Python 3.13, FastAPI (Async), Uvicorn ASGI Server, Pydantic v2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31520" y="2651760"/>
            <a:ext cx="10728655" cy="5486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9748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Agentic AI &amp;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69748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LangGraph (StateGraph), Hugging Face Hub, Knowledge Graph Expert System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31520" y="3246120"/>
            <a:ext cx="1072865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29184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Database &amp; Cloud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29184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Turso Cloud DB (Serverless libSQL over HTTPS), SQLite 3, SQLAlchemy 2.0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31520" y="3840480"/>
            <a:ext cx="10728655" cy="5486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" y="388620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Security &amp; RBAC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474720" y="388620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PyJWT (JSON Web Tokens), Passlib (Salted Bcrypt), Granular FastAPI Roles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31520" y="4434840"/>
            <a:ext cx="10728655" cy="548640"/>
          </a:xfrm>
          <a:prstGeom prst="rect">
            <a:avLst/>
          </a:prstGeom>
          <a:solidFill>
            <a:srgbClr val="FFFFFF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4480559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Document Engineering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4480559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LaTeX (.tex dynamic markup generation, character sanitization engine)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31520" y="5029200"/>
            <a:ext cx="10728655" cy="54864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50749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Testing &amp; QA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74720" y="5074920"/>
            <a:ext cx="7772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0F172A"/>
                </a:solidFill>
              </a:defRPr>
            </a:pPr>
            <a:r>
              <a:t>Pytest 9.x (15 Unit &amp; Integration Test Suites Passing in 2.7s)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5760720"/>
            <a:ext cx="10728655" cy="594360"/>
          </a:xfrm>
          <a:prstGeom prst="roundRect">
            <a:avLst/>
          </a:prstGeom>
          <a:solidFill>
            <a:srgbClr val="EEF2FF"/>
          </a:solidFill>
          <a:ln>
            <a:solidFill>
              <a:srgbClr val="C7D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</a:defRPr>
            </a:pPr>
            <a:r>
              <a:t>✓ Quality Assured: 15/15 automated tests passing with pytest (LangGraph workflows, eligibility, &amp; LaTeX engine).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SCALABILITY &amp; COLLABORATION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Future Enhancements &amp; Team Contribution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5120640" cy="4114800"/>
          </a:xfrm>
          <a:prstGeom prst="roundRect">
            <a:avLst/>
          </a:prstGeom>
          <a:solidFill>
            <a:srgbClr val="F8FAFC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47548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192F"/>
                </a:solidFill>
              </a:defRPr>
            </a:pPr>
            <a:r>
              <a:t>🚀 Future Enhancements Roadmap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🎥 AI Video Mock Interview Copilot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Real-time speech rate, filler-word detection, and facial confidence analysis.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📱 WhatsApp &amp; Telegram Push Alerts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Instant notification dispatch when high-fit on-campus &amp; off-campus drives open.</a:t>
            </a:r>
          </a:p>
          <a:p>
            <a:pPr>
              <a:spcBef>
                <a:spcPts val="1000"/>
              </a:spcBef>
              <a:defRPr sz="1300" b="1">
                <a:solidFill>
                  <a:srgbClr val="1E3A8A"/>
                </a:solidFill>
              </a:defRPr>
            </a:pPr>
            <a:r>
              <a:t>🌐 Multi-College Placement Grid</a:t>
            </a:r>
          </a:p>
          <a:p>
            <a:pPr>
              <a:spcBef>
                <a:spcPts val="200"/>
              </a:spcBef>
              <a:defRPr sz="1100">
                <a:solidFill>
                  <a:srgbClr val="0F172A"/>
                </a:solidFill>
              </a:defRPr>
            </a:pPr>
            <a:r>
              <a:t>Inter-collegiate talent pooling for shared pooled campus placement drives.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463040"/>
            <a:ext cx="5242255" cy="411480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645920"/>
            <a:ext cx="4876495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A192F"/>
                </a:solidFill>
              </a:defRPr>
            </a:pPr>
            <a:r>
              <a:t>👥 Team Roles &amp; Ownership</a:t>
            </a:r>
          </a:p>
          <a:p>
            <a:pPr>
              <a:spcBef>
                <a:spcPts val="800"/>
              </a:spcBef>
              <a:defRPr sz="1200" b="1">
                <a:solidFill>
                  <a:srgbClr val="0A192F"/>
                </a:solidFill>
              </a:defRPr>
            </a:pPr>
            <a:r>
              <a:t>• Full-Stack &amp; Backend Lead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FastAPI architecture, JWT RBAC security, REST endpoints</a:t>
            </a:r>
          </a:p>
          <a:p>
            <a:pPr>
              <a:spcBef>
                <a:spcPts val="800"/>
              </a:spcBef>
              <a:defRPr sz="1200" b="1">
                <a:solidFill>
                  <a:srgbClr val="0A192F"/>
                </a:solidFill>
              </a:defRPr>
            </a:pPr>
            <a:r>
              <a:t>• AI Agent &amp; NLP Specialist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LangGraph StateGraph, conditional edges, matching engine</a:t>
            </a:r>
          </a:p>
          <a:p>
            <a:pPr>
              <a:spcBef>
                <a:spcPts val="800"/>
              </a:spcBef>
              <a:defRPr sz="1200" b="1">
                <a:solidFill>
                  <a:srgbClr val="0A192F"/>
                </a:solidFill>
              </a:defRPr>
            </a:pPr>
            <a:r>
              <a:t>• Frontend UI/UX &amp; LaTeX Lead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React 19 dashboards, LeetCode arena, .tex generator</a:t>
            </a:r>
          </a:p>
          <a:p>
            <a:pPr>
              <a:spcBef>
                <a:spcPts val="800"/>
              </a:spcBef>
              <a:defRPr sz="1200" b="1">
                <a:solidFill>
                  <a:srgbClr val="0A192F"/>
                </a:solidFill>
              </a:defRPr>
            </a:pPr>
            <a:r>
              <a:t>• Cloud DB &amp; Testing Lead</a:t>
            </a:r>
          </a:p>
          <a:p>
            <a:pPr>
              <a:spcBef>
                <a:spcPts val="100"/>
              </a:spcBef>
              <a:defRPr sz="1100">
                <a:solidFill>
                  <a:srgbClr val="64748B"/>
                </a:solidFill>
              </a:defRPr>
            </a:pPr>
            <a:r>
              <a:t>  Turso Cloud DB sync, CSV ETL ingestion, Pytest test suites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760720"/>
            <a:ext cx="10728655" cy="594360"/>
          </a:xfrm>
          <a:prstGeom prst="roundRect">
            <a:avLst/>
          </a:prstGeom>
          <a:solidFill>
            <a:srgbClr val="0A19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Collaboration: Agile Git workflows, modular branch strategy, and end-to-end integration testing.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868680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2563EB"/>
                </a:solidFill>
              </a:defRPr>
            </a:pPr>
            <a:r>
              <a:t>PRACTICAL DEMONSTRATION</a:t>
            </a:r>
          </a:p>
          <a:p>
            <a:pPr>
              <a:spcBef>
                <a:spcPts val="200"/>
              </a:spcBef>
              <a:defRPr sz="2200" b="1">
                <a:solidFill>
                  <a:srgbClr val="0A192F"/>
                </a:solidFill>
              </a:defRPr>
            </a:pPr>
            <a:r>
              <a:t>Live Demo &amp; Real-World Use Case</a:t>
            </a:r>
          </a:p>
        </p:txBody>
      </p:sp>
      <p:pic>
        <p:nvPicPr>
          <p:cNvPr id="4" name="Picture 3" descr="agentx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92640" y="320040"/>
            <a:ext cx="1828800" cy="34290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" y="1463040"/>
            <a:ext cx="10728655" cy="731520"/>
          </a:xfrm>
          <a:prstGeom prst="roundRect">
            <a:avLst/>
          </a:prstGeom>
          <a:solidFill>
            <a:srgbClr val="EEF2FF"/>
          </a:solidFill>
          <a:ln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1E3A8A"/>
                </a:solidFill>
              </a:defRPr>
            </a:pPr>
            <a:r>
              <a:t>🧑‍💻 Real-World Persona: Mohammad Rafi — Final-Year CSE Student (CGPA: 9.60, Target: Top Tech SDE Roles)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37744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46888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1. Student Login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Instant profile auto-hydration (Branch, CGPA, verified skill taxonomy).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37744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26280" y="246888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2. Opportunity Matching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Composite fit percentage calculated in real time (Google SDE: 85% Match).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237744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83880" y="246888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3. 7-Day AI Prep Plan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Exact skill gap breakdown, day-by-day roadmap, and company mock questions.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84048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" y="393192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4. Agent Copilot Chat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Instant 3-day crash course re-planning with zero external API key costs.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89120" y="384048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393192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5. LangGraph Auto-Apply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⚡ Auto-apply with cryptographic confirmation receipt (APP-XXXXXXXX).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3840480"/>
            <a:ext cx="3413455" cy="1280160"/>
          </a:xfrm>
          <a:prstGeom prst="round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3931920"/>
            <a:ext cx="313913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A192F"/>
                </a:solidFill>
              </a:defRPr>
            </a:pPr>
            <a:r>
              <a:t>6. Tailored LaTeX Resume</a:t>
            </a:r>
          </a:p>
          <a:p>
            <a:pPr>
              <a:spcBef>
                <a:spcPts val="300"/>
              </a:spcBef>
              <a:defRPr sz="1050">
                <a:solidFill>
                  <a:srgbClr val="0F172A"/>
                </a:solidFill>
              </a:defRPr>
            </a:pPr>
            <a:r>
              <a:t>📄 1-click generation of compilation-ready .tex resume with STAR projects.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486400"/>
            <a:ext cx="10728655" cy="868680"/>
          </a:xfrm>
          <a:prstGeom prst="roundRect">
            <a:avLst/>
          </a:prstGeom>
          <a:solidFill>
            <a:srgbClr val="F0FDF4"/>
          </a:solidFill>
          <a:ln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66534"/>
                </a:solidFill>
              </a:defRPr>
            </a:pPr>
            <a:r>
              <a:t>🌟 WOW Factors to Highlight during Demo:</a:t>
            </a:r>
          </a:p>
          <a:p>
            <a:pPr>
              <a:spcBef>
                <a:spcPts val="200"/>
              </a:spcBef>
              <a:defRPr sz="1100">
                <a:solidFill>
                  <a:srgbClr val="166534"/>
                </a:solidFill>
              </a:defRPr>
            </a:pPr>
            <a:r>
              <a:t>1. 100% Zero-API-Key Offline Reliability ($0 cost)   |   2. Autonomous LangGraph Auto-Apply   |   3. Dynamic LaTeX Resume Tailoring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